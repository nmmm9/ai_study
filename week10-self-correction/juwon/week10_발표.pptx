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8B949E"/>
                </a:solidFill>
              </a:rPr>
              <a:t>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58A6FF"/>
                </a:solidFill>
              </a:rPr>
              <a:t>Self-Correction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031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FFFFFF"/>
                </a:solidFill>
              </a:rPr>
              <a:t>결과 검토 및 수정 로직 (Reflection)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517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8B949E"/>
                </a:solidFill>
              </a:rPr>
              <a:t>틀린 결과 시 재검색/수정하는 루프 구현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3FB950"/>
                </a:solidFill>
              </a:rPr>
              <a:t>GitHub Tech Trend Analyzer v2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8B949E"/>
                </a:solidFill>
              </a:rPr>
              <a:t>LangGraph · Self-Correction · Gmail · GitHub README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58A6FF"/>
                </a:solidFill>
              </a:rPr>
              <a:t>9주차 vs 10주차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4114800" cy="3474720"/>
          </a:xfrm>
          <a:prstGeom prst="rect">
            <a:avLst/>
          </a:prstGeom>
          <a:solidFill>
            <a:srgbClr val="161B22"/>
          </a:solidFill>
          <a:ln w="19050">
            <a:solidFill>
              <a:srgbClr val="8B94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78992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FFFFF"/>
                </a:solidFill>
              </a:rPr>
              <a:t>9주차
collect → validate → analyze → compare → report
• analyze 노드 1번 실행
• 결과가 나쁘더라도 그냥 저장
• 품질 검토 없음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0" y="1005840"/>
            <a:ext cx="4114800" cy="3474720"/>
          </a:xfrm>
          <a:prstGeom prst="rect">
            <a:avLst/>
          </a:prstGeom>
          <a:solidFill>
            <a:srgbClr val="161B22"/>
          </a:solidFill>
          <a:ln w="1905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46320" y="1078992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FFFFF"/>
                </a:solidFill>
              </a:rPr>
              <a:t>10주차
collect → validate → generate → reflect
→ compare → notify → report
• reflect 노드: 품질 자동 채점 (0~100점)
• 70점 미만 → 피드백 반영해서 재생성
• notify 노드: Gmail + GitHub README 자동 발송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3774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58A6FF"/>
                </a:solidFill>
              </a:rPr>
              <a:t>→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58A6FF"/>
                </a:solidFill>
              </a:rPr>
              <a:t>Self-Correction이란?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FFFFFF"/>
                </a:solidFill>
              </a:rPr>
              <a:t>AI가 자기 결과를 스스로 검토하고, 기준에 미달하면 다시 생성하는 루프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554480"/>
            <a:ext cx="2011680" cy="2560320"/>
          </a:xfrm>
          <a:prstGeom prst="rect">
            <a:avLst/>
          </a:prstGeom>
          <a:solidFill>
            <a:srgbClr val="161B22"/>
          </a:solidFill>
          <a:ln w="1905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27632"/>
            <a:ext cx="1828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FFFFF"/>
                </a:solidFill>
              </a:rPr>
              <a:t>🤖 Generate
AI가 트렌드 분석 결과를 처음 생성</a:t>
            </a:r>
          </a:p>
        </p:txBody>
      </p:sp>
      <p:sp>
        <p:nvSpPr>
          <p:cNvPr id="7" name="Rectangle 6"/>
          <p:cNvSpPr/>
          <p:nvPr/>
        </p:nvSpPr>
        <p:spPr>
          <a:xfrm>
            <a:off x="2423160" y="1554480"/>
            <a:ext cx="2011680" cy="2560320"/>
          </a:xfrm>
          <a:prstGeom prst="rect">
            <a:avLst/>
          </a:prstGeom>
          <a:solidFill>
            <a:srgbClr val="161B22"/>
          </a:solidFill>
          <a:ln w="19050">
            <a:solidFill>
              <a:srgbClr val="D29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14600" y="1627632"/>
            <a:ext cx="1828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FFFFF"/>
                </a:solidFill>
              </a:rPr>
              <a:t>🔍 Reflect
기준표로 자동 채점
(길이·키워드·레포 이름·인사이트·방향성)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1554480"/>
            <a:ext cx="2011680" cy="2560320"/>
          </a:xfrm>
          <a:prstGeom prst="rect">
            <a:avLst/>
          </a:prstGeom>
          <a:solidFill>
            <a:srgbClr val="161B22"/>
          </a:solidFill>
          <a:ln w="19050">
            <a:solidFill>
              <a:srgbClr val="F851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627632"/>
            <a:ext cx="1828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FFFFF"/>
                </a:solidFill>
              </a:rPr>
              <a:t>❌ Fail
70점 미만이면
피드백을 붙여서 다시 Generate로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20840" y="1554480"/>
            <a:ext cx="2011680" cy="2560320"/>
          </a:xfrm>
          <a:prstGeom prst="rect">
            <a:avLst/>
          </a:prstGeom>
          <a:solidFill>
            <a:srgbClr val="161B22"/>
          </a:solidFill>
          <a:ln w="1905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2280" y="1627632"/>
            <a:ext cx="1828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FFFFF"/>
                </a:solidFill>
              </a:rPr>
              <a:t>✅ Pass
70점 이상이면
다음 단계(compare)로 진행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2976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8B949E"/>
                </a:solidFill>
              </a:rPr>
              <a:t>핵심: AI 결과를 믿지 말고 검증하라. 기준을 코드로 명확히 정의하면 자동으로 품질이 올라간다.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58A6FF"/>
                </a:solidFill>
              </a:rPr>
              <a:t>LangGraph 흐름 설계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8412480" cy="2011680"/>
          </a:xfrm>
          <a:prstGeom prst="rect">
            <a:avLst/>
          </a:prstGeom>
          <a:solidFill>
            <a:srgbClr val="161B22"/>
          </a:solidFill>
          <a:ln w="1905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78992"/>
            <a:ext cx="82296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FFFFFF"/>
                </a:solidFill>
              </a:rPr>
              <a:t>collect  →  validate  →  generate  →  reflect
              ↑↓                        ↑↓
         (데이터 부족)           (점수 70 미만)
          재수집 최대 3회         재생성 최대 3회
                                        ↓ 점수 70 이상
                               compare  →  notify  →  report  →  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3200400"/>
            <a:ext cx="1143000" cy="1645920"/>
          </a:xfrm>
          <a:prstGeom prst="rect">
            <a:avLst/>
          </a:prstGeom>
          <a:solidFill>
            <a:srgbClr val="161B22"/>
          </a:solidFill>
          <a:ln w="1905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3273552"/>
            <a:ext cx="960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FFFFFF"/>
                </a:solidFill>
              </a:rPr>
              <a:t>collect
GitHub API
데이터 수집</a:t>
            </a:r>
          </a:p>
        </p:txBody>
      </p:sp>
      <p:sp>
        <p:nvSpPr>
          <p:cNvPr id="8" name="Rectangle 7"/>
          <p:cNvSpPr/>
          <p:nvPr/>
        </p:nvSpPr>
        <p:spPr>
          <a:xfrm>
            <a:off x="1435608" y="3200400"/>
            <a:ext cx="1143000" cy="1645920"/>
          </a:xfrm>
          <a:prstGeom prst="rect">
            <a:avLst/>
          </a:prstGeom>
          <a:solidFill>
            <a:srgbClr val="161B22"/>
          </a:solidFill>
          <a:ln w="19050">
            <a:solidFill>
              <a:srgbClr val="D29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27048" y="3273552"/>
            <a:ext cx="960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FFFFFF"/>
                </a:solidFill>
              </a:rPr>
              <a:t>validate
레포 5개 이상?
부족 시 재수집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88336" y="3200400"/>
            <a:ext cx="1143000" cy="1645920"/>
          </a:xfrm>
          <a:prstGeom prst="rect">
            <a:avLst/>
          </a:prstGeom>
          <a:solidFill>
            <a:srgbClr val="161B22"/>
          </a:solidFill>
          <a:ln w="1905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79776" y="3273552"/>
            <a:ext cx="960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FFFFFF"/>
                </a:solidFill>
              </a:rPr>
              <a:t>generate
AI 분석 생성
피드백 반영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41064" y="3200400"/>
            <a:ext cx="1143000" cy="1645920"/>
          </a:xfrm>
          <a:prstGeom prst="rect">
            <a:avLst/>
          </a:prstGeom>
          <a:solidFill>
            <a:srgbClr val="161B22"/>
          </a:solidFill>
          <a:ln w="19050">
            <a:solidFill>
              <a:srgbClr val="D29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32504" y="3273552"/>
            <a:ext cx="960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FFFFFF"/>
                </a:solidFill>
              </a:rPr>
              <a:t>reflect
품질 채점
0~100점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93792" y="3200400"/>
            <a:ext cx="1143000" cy="1645920"/>
          </a:xfrm>
          <a:prstGeom prst="rect">
            <a:avLst/>
          </a:prstGeom>
          <a:solidFill>
            <a:srgbClr val="161B22"/>
          </a:solidFill>
          <a:ln w="1905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85232" y="3273552"/>
            <a:ext cx="960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FFFFFF"/>
                </a:solidFill>
              </a:rPr>
              <a:t>compare
이전 기록
비교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46520" y="3200400"/>
            <a:ext cx="1143000" cy="1645920"/>
          </a:xfrm>
          <a:prstGeom prst="rect">
            <a:avLst/>
          </a:prstGeom>
          <a:solidFill>
            <a:srgbClr val="161B22"/>
          </a:solidFill>
          <a:ln w="1905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3273552"/>
            <a:ext cx="960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FFFFFF"/>
                </a:solidFill>
              </a:rPr>
              <a:t>notify
Gmail+
README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99248" y="3200400"/>
            <a:ext cx="1143000" cy="1645920"/>
          </a:xfrm>
          <a:prstGeom prst="rect">
            <a:avLst/>
          </a:prstGeom>
          <a:solidFill>
            <a:srgbClr val="161B22"/>
          </a:solidFill>
          <a:ln w="19050">
            <a:solidFill>
              <a:srgbClr val="8B94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90688" y="3273552"/>
            <a:ext cx="960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FFFFFF"/>
                </a:solidFill>
              </a:rPr>
              <a:t>report
JSON 저장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58A6FF"/>
                </a:solidFill>
              </a:rPr>
              <a:t>품질 검토 기준 — reflect 노드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005840"/>
            <a:ext cx="6858000" cy="621792"/>
          </a:xfrm>
          <a:prstGeom prst="rect">
            <a:avLst/>
          </a:prstGeom>
          <a:solidFill>
            <a:srgbClr val="161B22"/>
          </a:solidFill>
          <a:ln w="1905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078992"/>
            <a:ext cx="6675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FFFFFF"/>
                </a:solidFill>
              </a:rPr>
              <a:t>분석 길이  ·  300자 이상  →  20점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755648"/>
            <a:ext cx="6858000" cy="621792"/>
          </a:xfrm>
          <a:prstGeom prst="rect">
            <a:avLst/>
          </a:prstGeom>
          <a:solidFill>
            <a:srgbClr val="161B22"/>
          </a:solidFill>
          <a:ln w="1905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6675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FFFFFF"/>
                </a:solidFill>
              </a:rPr>
              <a:t>트렌드 키워드  ·  3개 이상  →  25점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505456"/>
            <a:ext cx="6858000" cy="621792"/>
          </a:xfrm>
          <a:prstGeom prst="rect">
            <a:avLst/>
          </a:prstGeom>
          <a:solidFill>
            <a:srgbClr val="161B22"/>
          </a:solidFill>
          <a:ln w="1905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578608"/>
            <a:ext cx="6675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FFFFFF"/>
                </a:solidFill>
              </a:rPr>
              <a:t>레포 이름 언급  ·  3개 이상  →  25점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255264"/>
            <a:ext cx="6858000" cy="621792"/>
          </a:xfrm>
          <a:prstGeom prst="rect">
            <a:avLst/>
          </a:prstGeom>
          <a:solidFill>
            <a:srgbClr val="161B22"/>
          </a:solidFill>
          <a:ln w="1905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328416"/>
            <a:ext cx="6675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FFFFFF"/>
                </a:solidFill>
              </a:rPr>
              <a:t>인사이트 수  ·  3개 이상  →  15점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4005072"/>
            <a:ext cx="6858000" cy="621792"/>
          </a:xfrm>
          <a:prstGeom prst="rect">
            <a:avLst/>
          </a:prstGeom>
          <a:solidFill>
            <a:srgbClr val="161B22"/>
          </a:solidFill>
          <a:ln w="1905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078224"/>
            <a:ext cx="6675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FFFFFF"/>
                </a:solidFill>
              </a:rPr>
              <a:t>기술 방향성  ·  키워드 2개↑  →  15점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663440"/>
            <a:ext cx="8229600" cy="347472"/>
          </a:xfrm>
          <a:prstGeom prst="rect">
            <a:avLst/>
          </a:prstGeom>
          <a:solidFill>
            <a:srgbClr val="161B22"/>
          </a:solidFill>
          <a:ln w="1905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736592"/>
            <a:ext cx="8046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FFFFF"/>
                </a:solidFill>
              </a:rPr>
              <a:t>합계 70점 이상 → 통과 (compare로 진행)   |   70점 미만 → 재생성 (최대 3회)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58A6FF"/>
                </a:solidFill>
              </a:rPr>
              <a:t>Self-Correction 루프 동작 방식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8412480" cy="2743200"/>
          </a:xfrm>
          <a:prstGeom prst="rect">
            <a:avLst/>
          </a:prstGeom>
          <a:solidFill>
            <a:srgbClr val="161B22"/>
          </a:solidFill>
          <a:ln w="1905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78992"/>
            <a:ext cx="82296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FFFFF"/>
                </a:solidFill>
              </a:rPr>
              <a:t>[시도 1]  점수: 45/100
  → 분석 짧음 (210자) | 레포 이름 언급 부족 (1개) | 방향성 키워드 부족
  → 피드백 반영하여 재생성
[시도 2]  점수: 65/100
  → 분석 길이 통과 | 트렌드 키워드 부족 (2개) | 방향성 키워드 부족
  → 피드백 반영하여 재생성
[시도 3]  점수: 85/100  ✅ 통과
  → 모든 품질 기준 통과 → compare 노드로 진행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93192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B949E"/>
                </a:solidFill>
              </a:rPr>
              <a:t>피드백이 있으면 generate 프롬프트에 '이전 피드백: ...' 섹션이 추가되어
AI가 어디가 부족했는지 알고 다시 생성한다.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58A6FF"/>
                </a:solidFill>
              </a:rPr>
              <a:t>구현: notifier.py — Gmail + GitHub README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4114800" cy="3200400"/>
          </a:xfrm>
          <a:prstGeom prst="rect">
            <a:avLst/>
          </a:prstGeom>
          <a:solidFill>
            <a:srgbClr val="161B22"/>
          </a:solidFill>
          <a:ln w="1905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78992"/>
            <a:ext cx="39319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FFFFF"/>
                </a:solidFill>
              </a:rPr>
              <a:t>Gmail SMTP 발송
• smtplib.SMTP_SSL('smtp.gmail.com', 465)
• Google 앱 비밀번호 필요 (일반 비밀번호 X)
• HTML 이메일: 트렌딩 레포 테이블 + 인사이트 + AI 분석
• .env: GMAIL_USER + GMAIL_APP_PASSWORD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0" y="1005840"/>
            <a:ext cx="4114800" cy="3200400"/>
          </a:xfrm>
          <a:prstGeom prst="rect">
            <a:avLst/>
          </a:prstGeom>
          <a:solidFill>
            <a:srgbClr val="161B22"/>
          </a:solidFill>
          <a:ln w="1905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46320" y="1078992"/>
            <a:ext cx="39319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FFFFF"/>
                </a:solidFill>
              </a:rPr>
              <a:t>GitHub README 업로드
• GitHub API PUT /repos/:owner/:repo/contents/TREND_REPORT.md
• 파일 없으면 새로 생성, 있으면 SHA 포함하여 업데이트
• 내용: 트렌딩 레포 + 품질 점수 + Self-Correction 이력
• .env: GITHUB_TOKEN + GITHUB_TREND_REPO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891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8B949E"/>
                </a:solidFill>
              </a:rPr>
              <a:t>notify 노드는 compare 다음에 실행 → 품질 통과한 결과만 발송된다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58A6FF"/>
                </a:solidFill>
              </a:rPr>
              <a:t>데모 화면 설명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8229600" cy="621792"/>
          </a:xfrm>
          <a:prstGeom prst="rect">
            <a:avLst/>
          </a:prstGeom>
          <a:solidFill>
            <a:srgbClr val="161B22"/>
          </a:solidFill>
          <a:ln w="1905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78992"/>
            <a:ext cx="8046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FFFFF"/>
                </a:solidFill>
              </a:rPr>
              <a:t>▶ 품질 점수 메트릭  —  AI 품질 점수 / 재생성 횟수 — 상단 5개 메트릭 중 오른쪽 2개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755648"/>
            <a:ext cx="8229600" cy="621792"/>
          </a:xfrm>
          <a:prstGeom prst="rect">
            <a:avLst/>
          </a:prstGeom>
          <a:solidFill>
            <a:srgbClr val="161B22"/>
          </a:solidFill>
          <a:ln w="19050">
            <a:solidFill>
              <a:srgbClr val="D29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8046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FFFFF"/>
                </a:solidFill>
              </a:rPr>
              <a:t>▶ Self-Correction 이력  —  시도별 점수 + 피드백 타임라인 + 점수 추이 바 차트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505456"/>
            <a:ext cx="8229600" cy="621792"/>
          </a:xfrm>
          <a:prstGeom prst="rect">
            <a:avLst/>
          </a:prstGeom>
          <a:solidFill>
            <a:srgbClr val="161B22"/>
          </a:solidFill>
          <a:ln w="1905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578608"/>
            <a:ext cx="8046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FFFFF"/>
                </a:solidFill>
              </a:rPr>
              <a:t>▶ 알림 발송 상태  —  Gmail: success/error | README: success/error — 결과 색상 표시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255264"/>
            <a:ext cx="8229600" cy="621792"/>
          </a:xfrm>
          <a:prstGeom prst="rect">
            <a:avLst/>
          </a:prstGeom>
          <a:solidFill>
            <a:srgbClr val="161B22"/>
          </a:solidFill>
          <a:ln w="19050">
            <a:solidFill>
              <a:srgbClr val="8B94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328416"/>
            <a:ext cx="8046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FFFFF"/>
                </a:solidFill>
              </a:rPr>
              <a:t>▶ 기존 대시보드  —  트렌딩 레포 카드 + 언어 분포 차트 + AI 분석 + 비교 (9주차와 동일)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005072"/>
            <a:ext cx="8229600" cy="621792"/>
          </a:xfrm>
          <a:prstGeom prst="rect">
            <a:avLst/>
          </a:prstGeom>
          <a:solidFill>
            <a:srgbClr val="161B22"/>
          </a:solidFill>
          <a:ln w="1905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078224"/>
            <a:ext cx="8046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FFFFF"/>
                </a:solidFill>
              </a:rPr>
              <a:t>▶ 사이드바 기록  —  날짜별 품질 점수 포함하여 이전 분석 이력 표시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58A6FF"/>
                </a:solidFill>
              </a:rPr>
              <a:t>회고 &amp; 다음 주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8595360" cy="2468880"/>
          </a:xfrm>
          <a:prstGeom prst="rect">
            <a:avLst/>
          </a:prstGeom>
          <a:solidFill>
            <a:srgbClr val="161B22"/>
          </a:solidFill>
          <a:ln w="1905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78992"/>
            <a:ext cx="8412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FFFFF"/>
                </a:solidFill>
              </a:rPr>
              <a:t>이번 주 배운 점
• Self-Correction = 품질 기준을 코드로 정의 + 조건 분기로 재실행
• reflect 노드를 분리하면 기준 수정이 generate에 영향 없음
• 70점 기준: 너무 높으면 무한루프, 너무 낮으면 의미 없음
• Gmail App Password는 2단계 인증 후 Google에서 발급 필요
• GitHub API: 파일 업데이트 시 기존 SHA를 함께 전달해야 함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3657600"/>
            <a:ext cx="8595360" cy="1280160"/>
          </a:xfrm>
          <a:prstGeom prst="rect">
            <a:avLst/>
          </a:prstGeom>
          <a:solidFill>
            <a:srgbClr val="161B22"/>
          </a:solidFill>
          <a:ln w="1905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3730752"/>
            <a:ext cx="8412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FFFFF"/>
                </a:solidFill>
              </a:rPr>
              <a:t>다음 주 (Week 11): Multi-Agent
• 여러 에이전트가 협력하는 구조
• 에이전트 A가 에이전트 B에게 작업을 위임
• Supervisor 패턴: 중앙 관리자가 서브 에이전트 조율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