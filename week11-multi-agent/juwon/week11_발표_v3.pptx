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03327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58A6FF"/>
                </a:solidFill>
                <a:latin typeface="Malgun Gothic"/>
              </a:rPr>
              <a:t>Week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9D1D9"/>
                </a:solidFill>
                <a:latin typeface="Malgun Gothic"/>
              </a:rPr>
              <a:t>Multi-Agent Debate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  <a:latin typeface="Malgun Gothic"/>
              </a:rPr>
              <a:t>GitHub Tech Trend Analyzer — 여러 AI 전문가가 토론해서 트렌드를 분석하는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2011680" cy="54864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Malgun Gothic"/>
              </a:rPr>
              <a:t>에이전트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7791" y="3931920"/>
            <a:ext cx="2011680" cy="54864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4023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  <a:latin typeface="Malgun Gothic"/>
              </a:rPr>
              <a:t>각 에이전트 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4064" y="3931920"/>
            <a:ext cx="2011680" cy="54864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9783" y="4023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29E22"/>
                </a:solidFill>
                <a:latin typeface="Malgun Gothic"/>
              </a:rPr>
              <a:t>Debate 패턴이란?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0336" y="3931920"/>
            <a:ext cx="2011680" cy="54864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6055" y="4023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5149"/>
                </a:solidFill>
                <a:latin typeface="Malgun Gothic"/>
              </a:rPr>
              <a:t>10주차 vs 11주차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36608" y="3931920"/>
            <a:ext cx="2011680" cy="54864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4023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  <a:latin typeface="Malgun Gothic"/>
              </a:rPr>
              <a:t>오늘 추가 기능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8A6FF"/>
                </a:solidFill>
                <a:latin typeface="Malgun Gothic"/>
              </a:rPr>
              <a:t>멀티 에이전트 시스템이란?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471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D1D9"/>
                </a:solidFill>
                <a:latin typeface="Malgun Gothic"/>
              </a:rPr>
              <a:t>여러 AI 에이전트가 각자의 역할을 맡아 협력하면서 하나의 목표를 달성하는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3749039" cy="4663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Malgun Gothic"/>
              </a:rPr>
              <a:t>🤖 에이전트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Malgun Gothic"/>
              </a:rPr>
              <a:t>시스템 내에서 독립적으로 행동하는 개체
• 자율성을 갖고 환경을 인식하여 판단
• 소프트웨어 프로그램, 봇, 로봇 등
우리 프로젝트:
agent_ai / agent_web / agent_sec /
Supervisor / Critic / Judge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828800"/>
            <a:ext cx="3749039" cy="4663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FB950"/>
                </a:solidFill>
                <a:latin typeface="Malgun Gothic"/>
              </a:rPr>
              <a:t>🌍 환경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39" y="24688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25603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Malgun Gothic"/>
              </a:rPr>
              <a:t>에이전트들이 공유하며 일하는 공간
• 리소스를 제공하고 제약 조건 적용
• 에이전트 간 간접 소통의 매개체
우리 프로젝트:
LangGraph StateGraph
(모든 에이전트가 공유하는 상태 객체)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749039" cy="4663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9E22"/>
                </a:solidFill>
                <a:latin typeface="Malgun Gothic"/>
              </a:rPr>
              <a:t>📡 통신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4688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Malgun Gothic"/>
              </a:rPr>
              <a:t>에이전트끼리 정보를 주고받는 규칙
• 메시지 형식과 전달 방식 정의
• FIPA ACL 같은 표준 언어 존재
우리 프로젝트:
각 노드가 State를 읽고 결과를 State에
저장 → 다음 노드가 이를 받아 사용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492240"/>
            <a:ext cx="11430000" cy="20116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핵심: 한 명의 AI가 모든 걸 판단하는 게 아니라, 역할을 나눈 여러 AI가 협력해서 더 좋은 결론을 냅니다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FB950"/>
                </a:solidFill>
                <a:latin typeface="Malgun Gothic"/>
              </a:rPr>
              <a:t>MAS 아키텍처 &amp; 구조 유형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471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9E22"/>
                </a:solidFill>
                <a:latin typeface="Malgun Gothic"/>
              </a:rPr>
              <a:t>네트워크 구조 — 어떻게 연결되나?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6517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Malgun Gothic"/>
              </a:rPr>
              <a:t>중앙 집중식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23774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중앙 컨트롤타워가 모든 에이전트를 관리
장점: 소통 쉽고 지식 통일
단점: 중앙 서버 죽으면 전체 다운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371600"/>
            <a:ext cx="26517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Malgun Gothic"/>
              </a:rPr>
              <a:t>분산형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920240"/>
            <a:ext cx="23774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에이전트가 이웃끼리 직접 소통
장점: 한 에이전트 죽어도 시스템 유지
단점: 전체 조율이 어려움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914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9E22"/>
                </a:solidFill>
                <a:latin typeface="Malgun Gothic"/>
              </a:rPr>
              <a:t>조직 구조 — 어떻게 역할을 나누나?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27432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Malgun Gothic"/>
              </a:rPr>
              <a:t>계층적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8745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상사→부하 처럼 위에서 아래로
권한과 책임이 명확하게 분리됨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371600"/>
            <a:ext cx="27432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Malgun Gothic"/>
              </a:rPr>
              <a:t>Holonic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8745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팀 안에 또 팀이 있는 구조
하위 에이전트가 여러 팀에 속할 수 있음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926080"/>
            <a:ext cx="27432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29E22"/>
                </a:solidFill>
                <a:latin typeface="Malgun Gothic"/>
              </a:rPr>
              <a:t>연합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4290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필요할 때만 팀 꾸리고 해산
유연하지만 조율이 어려움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2926080"/>
            <a:ext cx="27432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Malgun Gothic"/>
              </a:rPr>
              <a:t>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4290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한 목표를 위해 서로 의존하며 협력
연합보다 더 긴밀한 관계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63440"/>
            <a:ext cx="11430000" cy="16002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Malgun Gothic"/>
              </a:rPr>
              <a:t>우리 프로젝트가 사용한 구조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1106424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3036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✅  중앙 집중식 + 계층적 구조
LangGraph가 중앙에서 전체 흐름을 관리하고, collect → 전문가 3명 → Supervisor → Critic → Judge 순으로
위에서 아래로 권한이 내려가는 계층적 구조로 설계했습니다.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8A6FF"/>
                </a:solidFill>
                <a:latin typeface="Malgun Gothic"/>
              </a:rPr>
              <a:t>에이전트 구조도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LangGraph의 StateGraph로 구현 — 각 노드가 하나의 에이전트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Malgun Gothic"/>
              </a:rPr>
              <a:t>📡 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GitHub Trending
페이지에서 레포 수집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91440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005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Malgun Gothic"/>
              </a:rPr>
              <a:t>🧠 agent_ai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AI/ML 관련 레포
전문가 시각으로 분석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28600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Malgun Gothic"/>
              </a:rPr>
              <a:t>🌐 agent_web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웹/앱 관련 레포
전문가 시각으로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65760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3749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29E22"/>
                </a:solidFill>
                <a:latin typeface="Malgun Gothic"/>
              </a:rPr>
              <a:t>🔒 agent_sec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보안 관련 레포
전문가 시각으로 분석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28600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Malgun Gothic"/>
              </a:rPr>
              <a:t>📊 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3개 분석을
하나로 종합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28600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39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5149"/>
                </a:solidFill>
                <a:latin typeface="Malgun Gothic"/>
              </a:rPr>
              <a:t>⚡ critic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39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종합 결과에
반론 제기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438912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4480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Malgun Gothic"/>
              </a:rPr>
              <a:t>⚖️ judge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892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Supervisor + Critic
검토 후 최종 결론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389120"/>
            <a:ext cx="2286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4480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949E"/>
                </a:solidFill>
                <a:latin typeface="Malgun Gothic"/>
              </a:rPr>
              <a:t>💾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892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결과 저장
메일 + GitHub 업로드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16916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30632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4434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788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788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160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Malgun Gothic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6634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840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Malgun Gothic"/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760720"/>
            <a:ext cx="11430000" cy="54864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833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9E22"/>
                </a:solidFill>
                <a:latin typeface="Malgun Gothic"/>
              </a:rPr>
              <a:t>💡  agent_ai / agent_web / agent_sec 는 동시에(병렬로) 실행됩니다 — LangGraph의 fan-out 기능 활용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FB950"/>
                </a:solidFill>
                <a:latin typeface="Malgun Gothic"/>
              </a:rPr>
              <a:t>각 에이전트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471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749039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Malgun Gothic"/>
              </a:rPr>
              <a:t>🧠 agent_ai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AI/ML 전문가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키워드 필터: ai, ml, llm, gpt, neural, deep learning
→ AI/ML 관련 레포만 추려서 기술 트렌드 분석
→ 급부상 중인 AI 기술 및 추천 레포 2개 선정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914400"/>
            <a:ext cx="3749039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051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Malgun Gothic"/>
              </a:rPr>
              <a:t>🌐 agent_web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웹/앱 전문가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39" y="17830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1874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키워드 필터: react, vue, next, typescript, frontend, mobile
→ 웹/앱 개발 관련 레포만 추려서 분석
→ 주목할 프레임워크·라이브러리 및 추천 레포 2개 선정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914400"/>
            <a:ext cx="3749039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051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9E22"/>
                </a:solidFill>
                <a:latin typeface="Malgun Gothic"/>
              </a:rPr>
              <a:t>🔒 agent_sec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보안 전문가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830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874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키워드 필터: security, auth, crypto, vulnerability, pentest
→ 보안 관련 레포만 추려서 분석
→ 급부상 중인 보안 이슈 및 추천 레포 2개 선정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57600"/>
            <a:ext cx="3749039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94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Malgun Gothic"/>
              </a:rPr>
              <a:t>📊 supervisor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종합 분석가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262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177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agent_ai + agent_web + agent_sec 3개 분석을 모두 입력으로 받음
→ 세 분야를 아우르는 종합 트렌드 리포트 작성
→ 전체적인 기술 흐름과 핵심 인사이트 정리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657600"/>
            <a:ext cx="3749039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39" y="3794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5149"/>
                </a:solidFill>
                <a:latin typeface="Malgun Gothic"/>
              </a:rPr>
              <a:t>⚡ critic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4206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비판적 검토자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39" y="45262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39" y="46177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supervisor 리포트를 입력으로 받음
→ 빠진 트렌드, 근거 부족한 주장, 더 강조할 부분 지적
→ 반론과 보완점을 구체적으로 제시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3749039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794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Malgun Gothic"/>
              </a:rPr>
              <a:t>⚖️ judge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06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최종 심판자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4526280"/>
            <a:ext cx="338328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6177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supervisor 리포트 + critic 반론을 모두 입력으로 받음
→ 두 의견을 종합해서 최종 트렌드 리포트 완성
→ 편향 없이 균형 잡힌 결론 도출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29E22"/>
                </a:solidFill>
                <a:latin typeface="Malgun Gothic"/>
              </a:rPr>
              <a:t>실제 에이전트 출력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Python 언어, 이번 주 기준으로 분석했을 때 실제로 나오는 내용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38100"/>
          </a:xfrm>
          <a:prstGeom prst="rect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4434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Malgun Gothic"/>
              </a:rPr>
              <a:t>🧠 agent_ai 출력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411480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주목할 AI/ML 트렌드:
• TauricResearch/TradingAgents — LLM 기반 금융 트레이딩 프레임워크로
  멀티 에이전트 협업을 금융 도메인에 적용한 점이 주목됨
• anthropics/financial-services — 금융 서비스용 Claude 플러그인.
  AI가 실제 산업에 빠르게 통합되는 트렌드를 보여줌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371600"/>
            <a:ext cx="3749039" cy="4434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5149"/>
                </a:solidFill>
                <a:latin typeface="Malgun Gothic"/>
              </a:rPr>
              <a:t>⚡ critic 반론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39" y="1920240"/>
            <a:ext cx="411480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39" y="201168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Supervisor 리포트 검토 결과:
• 보안 측면이 과소 평가됨 — AI 금융 시스템의 취약점과
  데이터 프라이버시 이슈가 충분히 다뤄지지 않음
• 중국어 레포(TradingAgents-CN)의 비중이 크나
  글로벌 트렌드로 일반화하기엔 근거 부족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749039" cy="4434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Malgun Gothic"/>
              </a:rPr>
              <a:t>⚖️ judge 최종 결론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920240"/>
            <a:ext cx="411480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Critic의 보안 지적을 반영한 최종 결론:
• AI × 금융 분야가 이번 주 가장 뜨거운 트렌드
• TradingAgents, financial-services-plugins 모두 주목 필요
• 단, 금융 AI 도입 시 보안·규제 준수 검토가 선행되어야 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989320"/>
            <a:ext cx="11430000" cy="5029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533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💬 채팅 질문 예시:  "이번주 가장 주목할 레포 하나만 뽑아줘"  →  AI가 위 분석 결과를 바탕으로 답변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29E22"/>
                </a:solidFill>
                <a:latin typeface="Malgun Gothic"/>
              </a:rPr>
              <a:t>Debate 패턴이란?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47120" cy="38100"/>
          </a:xfrm>
          <a:prstGeom prst="rect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D1D9"/>
                </a:solidFill>
                <a:latin typeface="Malgun Gothic"/>
              </a:rPr>
              <a:t>멀티 에이전트 패턴 중 하나로, 여러 AI가 서로 다른 역할을 맡아 '토론'하면서 결론을 도출하는 방식입니다.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한 명의 AI가 혼자 판단하면 편향이 생길 수 있어서, 주장→반론→최종 판단 구조로 서로 검증합니다.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36576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Malgun Gothic"/>
              </a:rPr>
              <a:t>1단계
주장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310896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Supervisor가 3명의 전문가 분석을 종합해서
리포트를 작성합니다.
"이번 주 AI 금융 트렌드가 가장 주목됩니다"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286000"/>
            <a:ext cx="36576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5149"/>
                </a:solidFill>
                <a:latin typeface="Malgun Gothic"/>
              </a:rPr>
              <a:t>2단계
반론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39" y="3108960"/>
            <a:ext cx="310896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39" y="3200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Critic이 리포트를 검토하고
부족한 부분을 지적합니다.
"보안 이슈가 빠졌고 근거가 부족합니다"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286000"/>
            <a:ext cx="36576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FB950"/>
                </a:solidFill>
                <a:latin typeface="Malgun Gothic"/>
              </a:rPr>
              <a:t>3단계
최종 판단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108960"/>
            <a:ext cx="310896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200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Judge가 주장과 반론을 모두 보고
균형 잡힌 최종 결론을 냅니다.
"보안 주의사항을 포함한 최종 리포트"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989320"/>
            <a:ext cx="11430000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0533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다른 패턴들: Pipeline(순차전달)  |  Supervisor(지휘)  |  ✅ Debate(토론) — 이번 주  |  Voting(다수결)  |  ReAct(행동+관찰)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5149"/>
                </a:solidFill>
                <a:latin typeface="Malgun Gothic"/>
              </a:rPr>
              <a:t>10주차 vs 11주차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47120" cy="381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394960" cy="5577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8A6FF"/>
                </a:solidFill>
                <a:latin typeface="Malgun Gothic"/>
              </a:rPr>
              <a:t>10주차 — Self-Correction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핵심 개념: AI가 스스로 결과물의 품질을 채점하고
기준 미달이면 피드백을 반영해 다시 작성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502920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D1D9"/>
                </a:solidFill>
                <a:latin typeface="Malgun Gothic"/>
              </a:rPr>
              <a:t>①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GitHub에서 트렌딩 레포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D1D9"/>
                </a:solidFill>
                <a:latin typeface="Malgun Gothic"/>
              </a:rPr>
              <a:t>②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12724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AI가 트렌드 분석 보고서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770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29E22"/>
                </a:solidFill>
                <a:latin typeface="Malgun Gothic"/>
              </a:rPr>
              <a:t>③ 채점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877056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AI가 직접 0~100점으로 품질 평가
(5가지 기준: 구체성, 인사이트, 구조 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268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Malgun Gothic"/>
              </a:rPr>
              <a:t>④ 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26864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70점 이상 → 통과
70점 미만 → 피드백과 함께 재작성 요청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D1D9"/>
                </a:solidFill>
                <a:latin typeface="Malgun Gothic"/>
              </a:rPr>
              <a:t>⑤ 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37667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최종 보고서 저장 + 메일 + GitHub 업로드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291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5149"/>
                </a:solidFill>
                <a:latin typeface="Malgun Gothic"/>
              </a:rPr>
              <a:t>VS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914400"/>
            <a:ext cx="5394960" cy="5577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FB950"/>
                </a:solidFill>
                <a:latin typeface="Malgun Gothic"/>
              </a:rPr>
              <a:t>11주차 — Multi-Agent Debate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554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핵심 개념: 여러 전문가 AI가 각자 분석하고 토론해서
편향 없는 균형 잡힌 결론을 도출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240280"/>
            <a:ext cx="5029200" cy="381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D1D9"/>
                </a:solidFill>
                <a:latin typeface="Malgun Gothic"/>
              </a:rPr>
              <a:t>① 수집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3774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GitHub Trending 스크래핑으로 실제 트렌드 수집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127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Malgun Gothic"/>
              </a:rPr>
              <a:t>② 병렬분석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12724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AI/ML·웹/앱·보안 전문가 3명이 동시에 각자 분야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8770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D1D9"/>
                </a:solidFill>
                <a:latin typeface="Malgun Gothic"/>
              </a:rPr>
              <a:t>③ 종합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77056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Supervisor가 3개 분석을 하나의 리포트로 합침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6268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5149"/>
                </a:solidFill>
                <a:latin typeface="Malgun Gothic"/>
              </a:rPr>
              <a:t>④ 반론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626864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Critic이 리포트의 허점·편향·누락을 지적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Malgun Gothic"/>
              </a:rPr>
              <a:t>⑤ 최종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37667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Malgun Gothic"/>
              </a:rPr>
              <a:t>Judge가 주장+반론 검토 후 균형 잡힌 최종 리포트 완성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FB950"/>
                </a:solidFill>
                <a:latin typeface="Malgun Gothic"/>
              </a:rPr>
              <a:t>오늘 추가된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471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FB950"/>
                </a:solidFill>
                <a:latin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155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D1D9"/>
                </a:solidFill>
                <a:latin typeface="Malgun Gothic"/>
              </a:rPr>
              <a:t>트렌드 변화 감지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24128"/>
            <a:ext cx="7772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이전 분석 결과와 현재를 자동 비교
→ 🆕 새로 등장 / 🚀 급등 / 📉 급락 / 👋 사라짐 4가지로 분류
→ 분석을 두 번 이상 실행하면 자동으로 표시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29967"/>
            <a:ext cx="11430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12847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8A6FF"/>
                </a:solidFill>
                <a:latin typeface="Malgun Gothic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31135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D1D9"/>
                </a:solidFill>
                <a:latin typeface="Malgun Gothic"/>
              </a:rPr>
              <a:t>자동 스케줄링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39695"/>
            <a:ext cx="7772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APScheduler 라이브러리로 백그라운드에서 실행
→ 매일 지정한 시간에 자동으로 분석 + 메일 발송
→ 서버가 켜져 있는 동안 계속 동작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45536"/>
            <a:ext cx="11430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28416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29E22"/>
                </a:solidFill>
                <a:latin typeface="Malgun Gothi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467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D1D9"/>
                </a:solidFill>
                <a:latin typeface="Malgun Gothic"/>
              </a:rPr>
              <a:t>채팅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255264"/>
            <a:ext cx="7772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분석 결과 전체를 AI에게 컨텍스트로 전달
→ 결과를 보면서 바로 질문 가능
→ 예: "보안 관련만 정리해줘", "쉽게 설명해줘"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61104"/>
            <a:ext cx="11430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43984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5149"/>
                </a:solidFill>
                <a:latin typeface="Malgun Gothic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622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D1D9"/>
                </a:solidFill>
                <a:latin typeface="Malgun Gothic"/>
              </a:rPr>
              <a:t>UI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370832"/>
            <a:ext cx="7772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react-markdown 라이브러리 도입
→ ###, **굵게**, - 목록 등이 실제 스타일로 렌더링
→ 전문가 분석·토론·Judge 결론 모두 적용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76672"/>
            <a:ext cx="1143000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5955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FB950"/>
                </a:solidFill>
                <a:latin typeface="Malgun Gothic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D1D9"/>
                </a:solidFill>
                <a:latin typeface="Malgun Gothic"/>
              </a:rPr>
              <a:t>데이터 수집 개선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486400"/>
            <a:ext cx="7772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GitHub API 검색 → GitHub Trending 페이지 스크래핑으로 교체
→ '이번 주 획득 스타 수' 직접 수집 가능
→ OSSInsight와 유사한 정확도 달성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03327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D1D9"/>
                </a:solidFill>
                <a:latin typeface="Malgun Gothic"/>
              </a:rPr>
              <a:t>혼자 판단하는 AI  →  토론하는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  <a:latin typeface="Malgun Gothic"/>
              </a:rPr>
              <a:t>전문화된 에이전트 3명이 각자 분석하고, Critic이 검증하고, Judge가 최종 결론을 내립니다.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8A6FF"/>
                </a:solidFill>
                <a:latin typeface="Malgun Gothic"/>
              </a:rPr>
              <a:t>더 넓은 시각  ·  서로 검증  ·  균형 잡힌 결론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114800"/>
            <a:ext cx="201168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4206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8A6FF"/>
                </a:solidFill>
                <a:latin typeface="Malgun Gothic"/>
              </a:rPr>
              <a:t>전문화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4114800"/>
            <a:ext cx="201168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206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FB950"/>
                </a:solidFill>
                <a:latin typeface="Malgun Gothic"/>
              </a:rPr>
              <a:t>병렬 처리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114800"/>
            <a:ext cx="201168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206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D29E22"/>
                </a:solidFill>
                <a:latin typeface="Malgun Gothic"/>
              </a:rPr>
              <a:t>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4114800"/>
            <a:ext cx="201168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206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5149"/>
                </a:solidFill>
                <a:latin typeface="Malgun Gothic"/>
              </a:rPr>
              <a:t>균형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