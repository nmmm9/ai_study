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09728" cy="16459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0"/>
            <a:ext cx="1645920" cy="41148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WEEK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265DC8"/>
                </a:solidFill>
              </a:rPr>
              <a:t>입문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4B0"/>
                </a:solidFill>
              </a:rPr>
              <a:t>그래프 기반 워크플로우 (Nodes, Edges)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5DC8"/>
                </a:solidFill>
              </a:rPr>
              <a:t>GitHub 기술 트렌드 분석 에이전트  —  5개 노드 자동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4B0"/>
                </a:solidFill>
              </a:rPr>
              <a:t>juwon  ·  2026.04.28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8주차 vs 9주차: 무엇이 달라졌나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5303520" cy="46634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0000"/>
                </a:solidFill>
              </a:rPr>
              <a:t>8주차  ReAct (while 루프)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493776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E6FF"/>
                </a:solidFill>
              </a:rPr>
              <a:t>while iteration &lt; 25:
    response = client.chat(
        messages, tools=TOOLS
    )
    if tool_calls:
        execute_tool()
        messages.append(result)
    else:
        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0000"/>
                </a:solidFill>
              </a:rPr>
              <a:t>✗  흐름을 코드로만 파악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566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0000"/>
                </a:solidFill>
              </a:rPr>
              <a:t>✗  조건 분기가 복잡해짐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041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0000"/>
                </a:solidFill>
              </a:rPr>
              <a:t>✗  시각화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5394960" cy="4663440"/>
          </a:xfrm>
          <a:prstGeom prst="rect">
            <a:avLst/>
          </a:prstGeom>
          <a:solidFill>
            <a:srgbClr val="E5F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</a:rPr>
              <a:t>9주차  LangGraph (그래프)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011680"/>
            <a:ext cx="502920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1031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E6FF"/>
                </a:solidFill>
              </a:rPr>
              <a:t>graph.add_node("collect",  collect_node)
graph.add_node("validate", validate_node)
graph.add_node("analyze",  analyze_node)
graph.add_conditional_edges(
    "validate", should_retry,
    {"retry": "collect",
     "analyze": "analyze"}
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A34A"/>
                </a:solidFill>
              </a:rPr>
              <a:t>✓  흐름을 그래프로 한눈에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56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A34A"/>
                </a:solidFill>
              </a:rPr>
              <a:t>✓  조건 분기가 한 줄로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404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6A34A"/>
                </a:solidFill>
              </a:rPr>
              <a:t>✓  시각화 자동 제공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5DC8"/>
                </a:solidFill>
              </a:rPr>
              <a:t>핵심: while 루프를 노드와 엣지로 분리 → 흐름이 명확해진다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어차피 실행은 같은데 왜 LangGraph를 쓰나?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548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맞아요, 실행 결과는 똑같아요.  차이는 "관리 방식" 이에요.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3566160" cy="43891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3566160" cy="45720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933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① 흐름이 한눈에 보임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while 루프: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코드 100줄 읽어야
흐름 파악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LangGraph: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136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그래프 그림 1장으로
바로 파악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965960"/>
            <a:ext cx="3931920" cy="438912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965960"/>
            <a:ext cx="39319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9933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② 단계 수정이 쉬움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"분석 전에 번역 추가하고 싶어"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99923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0000"/>
                </a:solidFill>
              </a:rPr>
              <a:t>while 루프:
코드 전체 읽고
어디에 넣을지 찾아야 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931920"/>
            <a:ext cx="3749039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005072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E6FF"/>
                </a:solidFill>
              </a:rPr>
              <a:t># 한 줄이면 끝
graph.add_node("translate", ...)
graph.add_edge("validate", "translate")
graph.add_edge("translate", "analyze")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65960"/>
            <a:ext cx="3566160" cy="438912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965960"/>
            <a:ext cx="356616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9933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③ 복잡해질 때 빛남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420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1E2E"/>
                </a:solidFill>
              </a:rPr>
              <a:t>지금 9주차: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8803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노드 5개 → 차이 작음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37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</a:rPr>
              <a:t>10주차 Self-Correction: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703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조건 분기 추가
→ 노드만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3434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</a:rPr>
              <a:t>11주차 Multi-Agent: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노드 15개 이상
→ while이면 스파게티
LangGraph는 그래프만 추가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5DC8"/>
                </a:solidFill>
              </a:rPr>
              <a:t>결론: 지금은 차이가 작아 보여도 → 복잡해질수록 LangGraph가 압도적으로 유리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LangGraph 핵심 개념: Node / Edge /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2743200" cy="5029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50876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5DC8"/>
                </a:solidFill>
              </a:rPr>
              <a:t>🔵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2194560"/>
            <a:ext cx="2523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각 작업 단계
= Python 함수 1개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3017520"/>
            <a:ext cx="2560320" cy="3108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E6FF"/>
                </a:solidFill>
              </a:rPr>
              <a:t>collect_node()
validate_node()
analyze_node()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2743200" cy="50292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50876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A34A"/>
                </a:solidFill>
              </a:rPr>
              <a:t>→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194560"/>
            <a:ext cx="2523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실행 순서 연결
= 다음에 어디로 갈지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3017520"/>
            <a:ext cx="2560320" cy="3108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E6FF"/>
                </a:solidFill>
              </a:rPr>
              <a:t>add_edge(
  'analyze',
  'compare'
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2743200" cy="502920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50876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</a:rPr>
              <a:t>⚡ Conditional
  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194560"/>
            <a:ext cx="2523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조건 분기
= if/else를 그래프로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017520"/>
            <a:ext cx="2560320" cy="3108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E6FF"/>
                </a:solidFill>
              </a:rPr>
              <a:t>add_conditional_edges(
  'validate',
  should_retry,
  {retry/analyze}
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2743200" cy="5029200"/>
          </a:xfrm>
          <a:prstGeom prst="rect">
            <a:avLst/>
          </a:prstGeom>
          <a:solidFill>
            <a:srgbClr val="F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508760"/>
            <a:ext cx="2523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59B6"/>
                </a:solidFill>
              </a:rPr>
              <a:t>📦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194560"/>
            <a:ext cx="2523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노드 간 공유 데이터
= 실행 중 정보 저장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3017520"/>
            <a:ext cx="2560320" cy="31089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E6FF"/>
                </a:solidFill>
              </a:rPr>
              <a:t>class TrendState:
  repos: list
  analysis: str
  report: dict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에이전트 실행 순서도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200400" cy="82296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DC8"/>
                </a:solidFill>
              </a:rPr>
              <a:t>collect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GitHub API
데이터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762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3200400" cy="82296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42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603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데이터
충분한지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3200400" cy="82296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</a:rP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576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AI 기술
트렌드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708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63440"/>
            <a:ext cx="3200400" cy="822960"/>
          </a:xfrm>
          <a:prstGeom prst="rect">
            <a:avLst/>
          </a:prstGeom>
          <a:solidFill>
            <a:srgbClr val="F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36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9B6"/>
                </a:solidFill>
              </a:rP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75487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이전 기록과
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681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3200400" cy="822960"/>
          </a:xfrm>
          <a:prstGeom prst="rect">
            <a:avLst/>
          </a:prstGeom>
          <a:solidFill>
            <a:srgbClr val="E5F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338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85215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리포트 생성
&amp; 저장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331720"/>
            <a:ext cx="4754880" cy="13716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24231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</a:rPr>
              <a:t>조건 분기 (conditional_edge)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2834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데이터 &lt; 5개  →  collect로 되돌아감 (최대 3회)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2004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데이터 ≥ 5개  →  analyze로 진행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3520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</a:rPr>
              <a:t>↑ 이게 LangGraph의 핵심!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2E"/>
                </a:solidFill>
              </a:rPr>
              <a:t>구성 요소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828800"/>
            <a:ext cx="3017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1828800"/>
            <a:ext cx="1188720" cy="82296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2011680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노드 5개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965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각각 독립적인 함수로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2834640"/>
            <a:ext cx="3017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0" y="2834640"/>
            <a:ext cx="1188720" cy="82296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3017520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엣지 4개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9718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순서 연결 (add_edge)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3840480"/>
            <a:ext cx="3017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1120" y="3840480"/>
            <a:ext cx="1188720" cy="82296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34272" y="4023360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조건 엣지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977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validate → retry or analyze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4846320"/>
            <a:ext cx="3017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4846320"/>
            <a:ext cx="1188720" cy="82296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5029200"/>
            <a:ext cx="1042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983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repos, analysis, report 공유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Graph Visualizing: 그래프 구조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5303520" cy="5120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94B0"/>
                </a:solidFill>
              </a:rPr>
              <a:t>ASCII 아트 (앱에서 바로 확인)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A6FF"/>
                </a:solidFill>
              </a:rPr>
              <a:t>┌─────────────┐
│   collect   │ ← GitHub 수집
└──────┬──────┘
       ↓
┌──────┴──────┐
│  validate   │ ← 검증
└──────┬──────┘
  부족 │     ↘ (재수집)
       │   [collect]
  충분 ↓
┌──────┴──────┐
│   analyze   │ ← AI 분석
└──────┬──────┘
       ↓
┌──────┴──────┐
│   compare   │ ← 비교
└──────┬──────┘
       ↓
┌──────┴──────┐
│   report    │ ← 저장
└─────────────┘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577840" cy="5120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94B0"/>
                </a:solidFill>
              </a:rPr>
              <a:t>Mermaid 다이어그램 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E6FF"/>
                </a:solidFill>
              </a:rPr>
              <a:t>graph TD
  __start__ --&gt; collect
  collect --&gt; validate
  validate --&gt;|retry| collect
  validate --&gt;|analyze| analyze
  analyze --&gt; compare
  compare --&gt; report
  report --&gt; __end__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206240"/>
            <a:ext cx="5577840" cy="45720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519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580C"/>
                </a:solidFill>
              </a:rPr>
              <a:t>→ mermaid.live 에 붙여넣으면 예쁜 다이어그램으로 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5DC8"/>
                </a:solidFill>
              </a:rPr>
              <a:t>LangGraph는 자기 구조를 직접 그림으로 그려준다 — 코드 안 읽어도 흐름 파악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구현: GitHub Tech Trend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2E"/>
                </a:solidFill>
              </a:rPr>
              <a:t>파일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743200" cy="41148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github_tools.py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GitHub Search API 호출
언어/기간 필터 지원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9164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91640"/>
            <a:ext cx="2743200" cy="41148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190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storage.py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분석 결과 JSON 저장
히스토리 30개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2743200" cy="41148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190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graph.py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LangGraph 노드 + 엣지
그래프 시각화 함수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69164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691640"/>
            <a:ext cx="2743200" cy="41148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7190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app.py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945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Streamlit 대시보드
자동 실행 스케줄러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2E"/>
                </a:solidFill>
              </a:rPr>
              <a:t>Streamlit 대시보드 기능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54864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9475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✅  언어 필터 (Python, JS, Rust, Go 등 13개)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25112"/>
            <a:ext cx="54864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1655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✅  기간 선택 (오늘 / 이번 주 / 이번 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46904"/>
            <a:ext cx="54864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383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✅  트렌딩 레포 목록 + 스타 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568696"/>
            <a:ext cx="54864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6601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✅  언어 분포 차트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703320"/>
            <a:ext cx="54864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79475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✅  AI 트렌드 분석 + 핵심 인사이트 5개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325112"/>
            <a:ext cx="54864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41655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✅  이전 분석과 비교 (변화 파악)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946904"/>
            <a:ext cx="54864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0383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✅  매일 자동 실행 스케줄 설정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5568696"/>
            <a:ext cx="54864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56601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✅  LangGraph 그래프 구조 시각화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2910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실제 데이터: GitHub Search API  |  실시간 트렌딩 레포  |  AI 분석: OpenAI gpt-4o-mini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트렌드 결론은 어떻게 도출되나?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2560320" cy="34747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560320" cy="45720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533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DC8"/>
                </a:solidFill>
              </a:rPr>
              <a:t>숫자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GitHub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ollama  ⭐12,400  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44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swarm   ⭐800 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924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phi     ⭐500 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94B0"/>
                </a:solidFill>
              </a:rPr>
              <a:t>AI 없음
단순 목록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65DC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325880"/>
            <a:ext cx="2560320" cy="347472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6160" y="1325880"/>
            <a:ext cx="25603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3533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</a:rPr>
              <a:t>통계 집계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코드가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697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Python  → 10개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999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Go      →  5개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300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Rust    →  4개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602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39044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ai    → 14번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llm   →  9번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840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94B0"/>
                </a:solidFill>
              </a:rPr>
              <a:t>AI 없음
단순 집계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65DC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1325880"/>
            <a:ext cx="2560320" cy="347472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6560" y="1325880"/>
            <a:ext cx="25603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13533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87451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</a:rPr>
              <a:t>AI 해석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1E2E"/>
                </a:solidFill>
              </a:rPr>
              <a:t>GPT-4o-mini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697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스타 많음
→ 관심 높음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291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토픽 반복
→ 분야 부상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886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언어 분포
→ 트렌드 파악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94B0"/>
                </a:solidFill>
              </a:rPr>
              <a:t>AI 학습 지식
+ 데이터 조합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65DC8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1325880"/>
            <a:ext cx="1828800" cy="3474720"/>
          </a:xfrm>
          <a:prstGeom prst="rect">
            <a:avLst/>
          </a:prstGeom>
          <a:solidFill>
            <a:srgbClr val="F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66960" y="1325880"/>
            <a:ext cx="182880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13533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결론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1920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9B6"/>
                </a:solidFill>
              </a:rPr>
              <a:t>트렌드
리포트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65176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"이번 주
LLM 에이전트
관련 프로젝트
급증 중"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983480"/>
            <a:ext cx="11430000" cy="155448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</a:rPr>
              <a:t>⚠️  한계 (알고 쓰기)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5321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</a:rPr>
              <a:t>✅ 잘함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37360" y="5532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스타 많은 레포 설명  |  언어·토픽 패턴 해석  |  읽기 좋은 문장 생성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9893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</a:rPr>
              <a:t>❌ 못함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59893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진짜 좋은 프로젝트인지 판단  |  스타 조작 감지  |  장기 트렌드 예측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5DC8"/>
                </a:solidFill>
              </a:rPr>
              <a:t>결론: AI가 트렌드를 발견하는 게 아니라 → 숫자 데이터를 사람이 읽기 좋은 언어로 바꿔주는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회고 &amp; 다음 주 (10주차)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94960" cy="438912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✅  이번 주 배운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LangGraph = while 루프를 그래프로 바꾼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0720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Node(함수) + Edge(연결) + State(공유 데이터)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6557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conditional_edge로 조건 분기 한 줄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2394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그래프 구조 자동 시각화 (ASCII / Mermaid)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8231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실제 GitHub API로 실시간 데이터 수집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94960" cy="438912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🚀  다음 주 (10주차)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Self-Correction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94B0"/>
                </a:solidFill>
              </a:rPr>
              <a:t>결과 검토 및 수정 로직 (Reflection)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4B0"/>
                </a:solidFill>
              </a:rPr>
              <a:t>·  틀린 결과 시 재검색/수정하는 루프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58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4B0"/>
                </a:solidFill>
              </a:rPr>
              <a:t>·  지금 validate 노드의 확장 개념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171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4B0"/>
                </a:solidFill>
              </a:rPr>
              <a:t>·  AI가 스스로 품질을 검토하고 개선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